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59" r:id="rId4"/>
    <p:sldId id="286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85" r:id="rId15"/>
    <p:sldId id="257" r:id="rId16"/>
    <p:sldId id="271" r:id="rId17"/>
    <p:sldId id="270" r:id="rId18"/>
    <p:sldId id="273" r:id="rId19"/>
    <p:sldId id="272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74" r:id="rId29"/>
    <p:sldId id="283" r:id="rId30"/>
    <p:sldId id="284" r:id="rId31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170"/>
  </p:normalViewPr>
  <p:slideViewPr>
    <p:cSldViewPr snapToGrid="0">
      <p:cViewPr varScale="1">
        <p:scale>
          <a:sx n="119" d="100"/>
          <a:sy n="119" d="100"/>
        </p:scale>
        <p:origin x="4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12/25/24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500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12/25/24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854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12/25/24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611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12/25/24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47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12/25/24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636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12/25/24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119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12/25/24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285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12/25/24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622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12/25/24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066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12/25/24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217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12/25/24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559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12/25/24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017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12/25/24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89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1" r:id="rId2"/>
    <p:sldLayoutId id="2147483670" r:id="rId3"/>
    <p:sldLayoutId id="2147483669" r:id="rId4"/>
    <p:sldLayoutId id="2147483668" r:id="rId5"/>
    <p:sldLayoutId id="2147483667" r:id="rId6"/>
    <p:sldLayoutId id="2147483666" r:id="rId7"/>
    <p:sldLayoutId id="2147483665" r:id="rId8"/>
    <p:sldLayoutId id="2147483664" r:id="rId9"/>
    <p:sldLayoutId id="2147483663" r:id="rId10"/>
    <p:sldLayoutId id="2147483661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E1AED4-C7FF-4468-BF54-4470A0A3E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Video 3" descr="Sokak havadan hava görünümü">
            <a:extLst>
              <a:ext uri="{FF2B5EF4-FFF2-40B4-BE49-F238E27FC236}">
                <a16:creationId xmlns:a16="http://schemas.microsoft.com/office/drawing/2014/main" id="{8AB2C000-7E03-BCA3-1BAF-CE79171ACE7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-1" b="258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DE94FAB-AA60-43B4-A2C3-3A940B9A95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" y="4530071"/>
            <a:ext cx="12191999" cy="2327926"/>
          </a:xfrm>
          <a:prstGeom prst="rect">
            <a:avLst/>
          </a:prstGeom>
          <a:gradFill flip="none" rotWithShape="1">
            <a:gsLst>
              <a:gs pos="44000">
                <a:schemeClr val="tx1">
                  <a:alpha val="40000"/>
                </a:schemeClr>
              </a:gs>
              <a:gs pos="100000">
                <a:schemeClr val="tx1">
                  <a:alpha val="70000"/>
                </a:schemeClr>
              </a:gs>
              <a:gs pos="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C9BAD70-91BD-1560-1403-5E997F2858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167963"/>
            <a:ext cx="9144000" cy="1401421"/>
          </a:xfrm>
        </p:spPr>
        <p:txBody>
          <a:bodyPr>
            <a:noAutofit/>
          </a:bodyPr>
          <a:lstStyle/>
          <a:p>
            <a:pPr algn="ctr"/>
            <a:r>
              <a:rPr lang="tr-TR" sz="5000" b="1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Görüntü işleme ile Trafik Levhası Tespiti</a:t>
            </a:r>
            <a:endParaRPr lang="tr-TR" sz="5000" dirty="0">
              <a:solidFill>
                <a:schemeClr val="bg1"/>
              </a:solidFill>
              <a:effectLst/>
              <a:highlight>
                <a:srgbClr val="000000"/>
              </a:highlight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BA7DC6BE-1E12-1515-60BF-7716FFF180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636465"/>
            <a:ext cx="9144000" cy="646785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tr-TR" sz="1500">
                <a:solidFill>
                  <a:schemeClr val="bg1"/>
                </a:solidFill>
              </a:rPr>
              <a:t>Fouad Aladhami</a:t>
            </a:r>
          </a:p>
          <a:p>
            <a:pPr algn="ctr">
              <a:lnSpc>
                <a:spcPct val="90000"/>
              </a:lnSpc>
            </a:pPr>
            <a:r>
              <a:rPr lang="tr-TR" sz="1500">
                <a:solidFill>
                  <a:schemeClr val="bg1"/>
                </a:solidFill>
              </a:rPr>
              <a:t>210102002808</a:t>
            </a:r>
          </a:p>
        </p:txBody>
      </p:sp>
    </p:spTree>
    <p:extLst>
      <p:ext uri="{BB962C8B-B14F-4D97-AF65-F5344CB8AC3E}">
        <p14:creationId xmlns:p14="http://schemas.microsoft.com/office/powerpoint/2010/main" val="3875059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9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1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CF50520-2C7F-C257-5185-69F677C5E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>
            <a:normAutofit/>
          </a:bodyPr>
          <a:lstStyle/>
          <a:p>
            <a:r>
              <a:rPr lang="tr-TR"/>
              <a:t>Problem tanımı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346BB78-88B8-182F-84A3-1D35C1C73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23381"/>
            <a:ext cx="3888528" cy="35535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000" dirty="0"/>
              <a:t>Görüntü işleme ile yollarda bulunan trafik levhaların yerlerini tespit etmek.</a:t>
            </a:r>
          </a:p>
        </p:txBody>
      </p:sp>
      <p:pic>
        <p:nvPicPr>
          <p:cNvPr id="5" name="Resim 4" descr="siyah beyaz, ekran görüntüsü, metin, dış mekan içeren bir resim&#10;&#10;Açıklama otomatik olarak oluşturuldu">
            <a:extLst>
              <a:ext uri="{FF2B5EF4-FFF2-40B4-BE49-F238E27FC236}">
                <a16:creationId xmlns:a16="http://schemas.microsoft.com/office/drawing/2014/main" id="{1EB227CF-6067-E152-388C-31B85FE04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785" y="1711842"/>
            <a:ext cx="6067553" cy="3018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32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 descr="siyah beyaz, ekran görüntüsü, metin, dış mekan içeren bir resim&#10;&#10;Açıklama otomatik olarak oluşturuldu">
            <a:extLst>
              <a:ext uri="{FF2B5EF4-FFF2-40B4-BE49-F238E27FC236}">
                <a16:creationId xmlns:a16="http://schemas.microsoft.com/office/drawing/2014/main" id="{BD02CA4A-6045-D247-F5C9-BC795454F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716365"/>
            <a:ext cx="10905066" cy="542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515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phic 1">
            <a:extLst>
              <a:ext uri="{FF2B5EF4-FFF2-40B4-BE49-F238E27FC236}">
                <a16:creationId xmlns:a16="http://schemas.microsoft.com/office/drawing/2014/main" id="{0D57E7FA-E8FC-45AC-868F-CDC814493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2599854" y="527562"/>
            <a:ext cx="6992292" cy="5102484"/>
          </a:xfrm>
          <a:custGeom>
            <a:avLst/>
            <a:gdLst/>
            <a:ahLst/>
            <a:cxnLst/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8EE82C97-7516-7B81-C0C4-5C44EF71B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4620584" cy="307867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i="1" dirty="0" err="1"/>
              <a:t>Yöntem</a:t>
            </a:r>
            <a:endParaRPr lang="en-US" sz="4800" i="1" dirty="0"/>
          </a:p>
        </p:txBody>
      </p:sp>
      <p:pic>
        <p:nvPicPr>
          <p:cNvPr id="7" name="Graphic 6" descr="Bar chart">
            <a:extLst>
              <a:ext uri="{FF2B5EF4-FFF2-40B4-BE49-F238E27FC236}">
                <a16:creationId xmlns:a16="http://schemas.microsoft.com/office/drawing/2014/main" id="{04F231A9-A2C5-0C66-7CFD-0DAFE844E0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6253" y="957860"/>
            <a:ext cx="4942280" cy="494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312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23608CB-B9C2-F455-384F-A57C2652F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Gaussian</a:t>
            </a:r>
            <a:r>
              <a:rPr lang="tr-TR" dirty="0"/>
              <a:t> </a:t>
            </a:r>
            <a:r>
              <a:rPr lang="tr-TR" dirty="0" err="1"/>
              <a:t>Blur</a:t>
            </a:r>
            <a:r>
              <a:rPr lang="tr-TR" dirty="0"/>
              <a:t> ile yumuşatma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F7CE2C18-31FE-59D6-301F-C99E87015D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881832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tr-TR" dirty="0"/>
                  <a:t>Orijinal görüntü gauss maskesi le yumuşatılmıştır.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tr-TR" sz="28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tr-TR" sz="2800" b="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tr-TR" sz="2800" b="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𝑠𝑖𝑧𝑒</m:t>
                        </m:r>
                      </m:sub>
                    </m:sSub>
                    <m:r>
                      <a:rPr lang="tr-TR" sz="2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tr-TR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tr-TR" sz="2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a:rPr lang="tr-TR" sz="2800" b="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𝑚𝑎𝑥</m:t>
                            </m:r>
                          </m:fName>
                          <m:e>
                            <m:d>
                              <m:dPr>
                                <m:ctrlPr>
                                  <a:rPr lang="tr-TR" sz="28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tr-TR" sz="2800" b="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3,</m:t>
                                </m:r>
                                <m:d>
                                  <m:dPr>
                                    <m:begChr m:val="⌊"/>
                                    <m:endChr m:val="⌋"/>
                                    <m:ctrlPr>
                                      <a:rPr lang="tr-TR" sz="2800" i="1">
                                        <a:effectLst/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tr-TR" sz="28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tr-TR" sz="2800" b="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𝑤𝑖𝑑𝑡h</m:t>
                                        </m:r>
                                      </m:num>
                                      <m:den>
                                        <m:r>
                                          <a:rPr lang="tr-TR" sz="2800" b="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40​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tr-TR" sz="2800" b="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tr-TR" sz="2800" b="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</m:func>
                        <m:r>
                          <a:rPr lang="tr-TR" sz="2800" b="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func>
                          <m:funcPr>
                            <m:ctrlPr>
                              <a:rPr lang="tr-TR" sz="2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a:rPr lang="tr-TR" sz="2800" b="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𝑚𝑎𝑥</m:t>
                            </m:r>
                          </m:fName>
                          <m:e>
                            <m:d>
                              <m:dPr>
                                <m:ctrlPr>
                                  <a:rPr lang="tr-TR" sz="28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tr-TR" sz="2800" b="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3,</m:t>
                                </m:r>
                                <m:d>
                                  <m:dPr>
                                    <m:begChr m:val="⌊"/>
                                    <m:endChr m:val="⌋"/>
                                    <m:ctrlPr>
                                      <a:rPr lang="tr-TR" sz="2800" i="1">
                                        <a:effectLst/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tr-TR" sz="28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tr-TR" sz="2800" b="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h𝑒𝑖𝑔h𝑡</m:t>
                                        </m:r>
                                      </m:num>
                                      <m:den>
                                        <m:r>
                                          <a:rPr lang="tr-TR" sz="2800" b="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​40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tr-TR" sz="2800" b="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tr-TR" sz="2800" b="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tr-TR" dirty="0">
                    <a:effectLst/>
                  </a:rPr>
                  <a:t> </a:t>
                </a:r>
                <a:endParaRPr lang="tr-TR" dirty="0"/>
              </a:p>
              <a:p>
                <a:pPr marL="0" indent="0">
                  <a:buNone/>
                </a:pPr>
                <a:endParaRPr lang="tr-TR" dirty="0"/>
              </a:p>
            </p:txBody>
          </p:sp>
        </mc:Choice>
        <mc:Fallback xmlns=""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F7CE2C18-31FE-59D6-301F-C99E87015D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881832"/>
              </a:xfrm>
              <a:blipFill>
                <a:blip r:embed="rId2"/>
                <a:stretch>
                  <a:fillRect l="-603" t="-9859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Resim 3">
            <a:extLst>
              <a:ext uri="{FF2B5EF4-FFF2-40B4-BE49-F238E27FC236}">
                <a16:creationId xmlns:a16="http://schemas.microsoft.com/office/drawing/2014/main" id="{1D12C13F-2041-563D-A2D4-46A387BE1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679" y="2763758"/>
            <a:ext cx="7364642" cy="3851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274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D0FFB5C-D49F-B40B-8E95-9084111EB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Adaptive</a:t>
            </a:r>
            <a:r>
              <a:rPr lang="tr-TR" dirty="0"/>
              <a:t> </a:t>
            </a:r>
            <a:r>
              <a:rPr lang="tr-TR" dirty="0" err="1"/>
              <a:t>Treshold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B01F993-F9AC-CE17-2521-3A4ED7D9F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0004"/>
            <a:ext cx="10515600" cy="772617"/>
          </a:xfrm>
        </p:spPr>
        <p:txBody>
          <a:bodyPr/>
          <a:lstStyle/>
          <a:p>
            <a:r>
              <a:rPr lang="tr-TR" dirty="0"/>
              <a:t>Kernel boyutu 19x19 seçilmiştir.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E064FFE0-1D82-2C8E-D344-9DDB320B4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197" y="2658354"/>
            <a:ext cx="7331606" cy="3834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115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D510CA7-70CA-BBA4-9CFF-F4FD379C9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Negatif alma işlemi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5330F98-1C63-4FE4-80F4-12864FF5C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9777"/>
            <a:ext cx="10515600" cy="926729"/>
          </a:xfrm>
        </p:spPr>
        <p:txBody>
          <a:bodyPr/>
          <a:lstStyle/>
          <a:p>
            <a:r>
              <a:rPr lang="tr-TR" dirty="0"/>
              <a:t>Görüntünün negatifi alınmıştır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C5598162-224C-A47A-0A1E-5DAA9DBE0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311" y="2906506"/>
            <a:ext cx="6903378" cy="3612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369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1351695-871D-ADE9-52F9-01D8EC978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Bağlı bileşen analizi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3D5227D6-2F43-3956-637D-4C1EFDF29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96" y="2886075"/>
            <a:ext cx="3462464" cy="3543300"/>
          </a:xfrm>
          <a:prstGeom prst="rect">
            <a:avLst/>
          </a:prstGeom>
        </p:spPr>
      </p:pic>
      <p:pic>
        <p:nvPicPr>
          <p:cNvPr id="7" name="Resim 6" descr="metin, ekran görüntüsü, yazı tipi, sayı, numara içeren bir resim&#10;&#10;Açıklama otomatik olarak oluşturuldu">
            <a:extLst>
              <a:ext uri="{FF2B5EF4-FFF2-40B4-BE49-F238E27FC236}">
                <a16:creationId xmlns:a16="http://schemas.microsoft.com/office/drawing/2014/main" id="{7CDD84C1-2FC7-98BD-CB49-901955328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0644" y="2886075"/>
            <a:ext cx="3111500" cy="3606800"/>
          </a:xfrm>
          <a:prstGeom prst="rect">
            <a:avLst/>
          </a:prstGeom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9C80BA11-5811-1796-B016-ACDDD269EB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2902" y="2886075"/>
            <a:ext cx="3213100" cy="3530600"/>
          </a:xfrm>
          <a:prstGeom prst="rect">
            <a:avLst/>
          </a:prstGeom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E7E6035-4FE6-02FF-FBBA-A735D7C28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6646"/>
            <a:ext cx="10515600" cy="926729"/>
          </a:xfrm>
        </p:spPr>
        <p:txBody>
          <a:bodyPr>
            <a:normAutofit lnSpcReduction="10000"/>
          </a:bodyPr>
          <a:lstStyle/>
          <a:p>
            <a:r>
              <a:rPr lang="tr-TR" dirty="0"/>
              <a:t>Görüntü bağlı bileşenler analizi ile her bileşeni ayrı ayrı olarak incelenmiştir.</a:t>
            </a:r>
          </a:p>
        </p:txBody>
      </p:sp>
    </p:spTree>
    <p:extLst>
      <p:ext uri="{BB962C8B-B14F-4D97-AF65-F5344CB8AC3E}">
        <p14:creationId xmlns:p14="http://schemas.microsoft.com/office/powerpoint/2010/main" val="2517584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D938B-9B05-381B-14F5-B22198239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30E51BB-24F0-D163-DC2D-9460CBD3D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Bağlı bileşen analizi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FAF30B3F-1587-CBC2-31DF-9C0A3E304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96" y="2886075"/>
            <a:ext cx="3462464" cy="3543300"/>
          </a:xfrm>
          <a:prstGeom prst="rect">
            <a:avLst/>
          </a:prstGeom>
        </p:spPr>
      </p:pic>
      <p:pic>
        <p:nvPicPr>
          <p:cNvPr id="7" name="Resim 6" descr="metin, ekran görüntüsü, yazı tipi, sayı, numara içeren bir resim&#10;&#10;Açıklama otomatik olarak oluşturuldu">
            <a:extLst>
              <a:ext uri="{FF2B5EF4-FFF2-40B4-BE49-F238E27FC236}">
                <a16:creationId xmlns:a16="http://schemas.microsoft.com/office/drawing/2014/main" id="{9EC13114-3891-B091-35A9-B987B1AD4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0644" y="2886075"/>
            <a:ext cx="3111500" cy="3606800"/>
          </a:xfrm>
          <a:prstGeom prst="rect">
            <a:avLst/>
          </a:prstGeom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65613D68-583B-C347-E4A9-9D33DB9C10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2902" y="2886075"/>
            <a:ext cx="3213100" cy="3530600"/>
          </a:xfrm>
          <a:prstGeom prst="rect">
            <a:avLst/>
          </a:prstGeom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08AE460-AF4E-76A1-88C1-58B6B399D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0798"/>
            <a:ext cx="10515600" cy="9625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>
                <a:effectLst/>
                <a:ea typeface="Times New Roman" panose="02020603050405020304" pitchFamily="18" charset="0"/>
              </a:rPr>
              <a:t>1- Etiketlenmiş objeler üzerinde alan ve yükseklik-genişlik oranı temel alınarak bir filtreleme işlemi gerçekleştirilmiştir. </a:t>
            </a:r>
            <a:endParaRPr lang="tr-TR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08C18FAF-730A-FF6B-2C77-5CE2AA04AE07}"/>
              </a:ext>
            </a:extLst>
          </p:cNvPr>
          <p:cNvSpPr txBox="1"/>
          <p:nvPr/>
        </p:nvSpPr>
        <p:spPr>
          <a:xfrm>
            <a:off x="8484781" y="22966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94222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3901F-DDCE-BFF7-2CBB-1D4029CFA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F88C606-EEF3-FC57-1C0F-AB927494E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Bağlı bileşen analizi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1F68F4E-6756-5AD1-11A1-24DF75676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0798"/>
            <a:ext cx="10515600" cy="96257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tr-TR" dirty="0">
                <a:ea typeface="Times New Roman" panose="02020603050405020304" pitchFamily="18" charset="0"/>
              </a:rPr>
              <a:t>2</a:t>
            </a:r>
            <a:r>
              <a:rPr lang="tr-TR" dirty="0">
                <a:effectLst/>
                <a:ea typeface="Times New Roman" panose="02020603050405020304" pitchFamily="18" charset="0"/>
              </a:rPr>
              <a:t>- Etiketlenmiş objeler </a:t>
            </a:r>
            <a:r>
              <a:rPr lang="tr-TR" dirty="0" err="1">
                <a:effectLst/>
                <a:ea typeface="Times New Roman" panose="02020603050405020304" pitchFamily="18" charset="0"/>
              </a:rPr>
              <a:t>eccentricity</a:t>
            </a:r>
            <a:r>
              <a:rPr lang="tr-TR" dirty="0">
                <a:effectLst/>
                <a:ea typeface="Times New Roman" panose="02020603050405020304" pitchFamily="18" charset="0"/>
              </a:rPr>
              <a:t> değeri hesaplanmıştır ve </a:t>
            </a:r>
            <a:r>
              <a:rPr lang="tr-TR" dirty="0" err="1">
                <a:effectLst/>
                <a:ea typeface="Times New Roman" panose="02020603050405020304" pitchFamily="18" charset="0"/>
              </a:rPr>
              <a:t>eccentricity</a:t>
            </a:r>
            <a:r>
              <a:rPr lang="tr-TR" dirty="0">
                <a:effectLst/>
                <a:ea typeface="Times New Roman" panose="02020603050405020304" pitchFamily="18" charset="0"/>
              </a:rPr>
              <a:t> değerine bakılarak </a:t>
            </a:r>
            <a:r>
              <a:rPr lang="tr-TR" dirty="0" err="1">
                <a:effectLst/>
                <a:ea typeface="Times New Roman" panose="02020603050405020304" pitchFamily="18" charset="0"/>
              </a:rPr>
              <a:t>filtrelenmişitir</a:t>
            </a:r>
            <a:r>
              <a:rPr lang="tr-TR" dirty="0">
                <a:effectLst/>
                <a:ea typeface="Times New Roman" panose="02020603050405020304" pitchFamily="18" charset="0"/>
              </a:rPr>
              <a:t>. Obje ne kadar yuvarlağa yakınsa </a:t>
            </a:r>
            <a:r>
              <a:rPr lang="tr-TR" dirty="0" err="1">
                <a:effectLst/>
                <a:ea typeface="Times New Roman" panose="02020603050405020304" pitchFamily="18" charset="0"/>
              </a:rPr>
              <a:t>eccentricity</a:t>
            </a:r>
            <a:r>
              <a:rPr lang="tr-TR" dirty="0">
                <a:effectLst/>
                <a:ea typeface="Times New Roman" panose="02020603050405020304" pitchFamily="18" charset="0"/>
              </a:rPr>
              <a:t> değeri o kadar 0’ra yaklaşır</a:t>
            </a:r>
            <a:endParaRPr lang="tr-TR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5001E63E-D42D-16CF-A019-7ABB7E8C4BE1}"/>
              </a:ext>
            </a:extLst>
          </p:cNvPr>
          <p:cNvSpPr txBox="1"/>
          <p:nvPr/>
        </p:nvSpPr>
        <p:spPr>
          <a:xfrm>
            <a:off x="8484781" y="22966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r-TR" dirty="0"/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E399F211-7241-1669-0DDC-5BE133DE1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476" y="3259210"/>
            <a:ext cx="8557048" cy="2873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603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6EA01-BCAA-F340-C473-1547BE7FA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62892DF-BBA3-6426-7DB3-5E2C259E7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Morfolojik operatörlerle kapatma işlemi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5A3C385-4ACC-9032-B543-6EEE668CC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7813"/>
            <a:ext cx="10515600" cy="13255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tr-TR" dirty="0"/>
              <a:t>Filtrelenen görüntüde yuvarlak şekillerde kopukluklar oluştuğunda, bu boşlukları doldurmak için morfolojik operatörler kullanılarak kapatma işlemi uygulanmıştır. Yapılandırma elemanın boyutu görselin yüzde 1i kadar seçilmiştir.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492E3102-3457-A370-8D2A-686C6F8D189E}"/>
              </a:ext>
            </a:extLst>
          </p:cNvPr>
          <p:cNvSpPr txBox="1"/>
          <p:nvPr/>
        </p:nvSpPr>
        <p:spPr>
          <a:xfrm>
            <a:off x="8484781" y="22966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r-TR" dirty="0"/>
          </a:p>
        </p:txBody>
      </p:sp>
      <p:pic>
        <p:nvPicPr>
          <p:cNvPr id="4" name="Resim 3" descr="ekran görüntüsü, diyagram, metin, tasarım içeren bir resim&#10;&#10;Açıklama otomatik olarak oluşturuldu">
            <a:extLst>
              <a:ext uri="{FF2B5EF4-FFF2-40B4-BE49-F238E27FC236}">
                <a16:creationId xmlns:a16="http://schemas.microsoft.com/office/drawing/2014/main" id="{9590BFD9-9898-EC61-C691-2FFDD4E53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24043"/>
            <a:ext cx="6508585" cy="3325406"/>
          </a:xfrm>
          <a:prstGeom prst="rect">
            <a:avLst/>
          </a:prstGeom>
        </p:spPr>
      </p:pic>
      <p:pic>
        <p:nvPicPr>
          <p:cNvPr id="6" name="Resim 5" descr="simge, sembol, logo, beyaz, yazı tipi içeren bir resim&#10;&#10;Açıklama otomatik olarak oluşturuldu">
            <a:extLst>
              <a:ext uri="{FF2B5EF4-FFF2-40B4-BE49-F238E27FC236}">
                <a16:creationId xmlns:a16="http://schemas.microsoft.com/office/drawing/2014/main" id="{87FBC890-C3A6-A10B-2CE2-97E28B7CC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586" y="3684182"/>
            <a:ext cx="2419252" cy="1866012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A73971BA-0AE9-C0D1-9FAD-C9E54FF102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5887" y="3684182"/>
            <a:ext cx="2409411" cy="186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387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7EFA3B8-638E-855C-63C0-D0D9B2A99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8763"/>
            <a:ext cx="10515600" cy="1325563"/>
          </a:xfrm>
        </p:spPr>
        <p:txBody>
          <a:bodyPr/>
          <a:lstStyle/>
          <a:p>
            <a:r>
              <a:rPr lang="tr-TR" dirty="0" err="1"/>
              <a:t>Hough</a:t>
            </a:r>
            <a:r>
              <a:rPr lang="tr-TR" dirty="0"/>
              <a:t> transform ile yuvarlak bulma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o 3">
                <a:extLst>
                  <a:ext uri="{FF2B5EF4-FFF2-40B4-BE49-F238E27FC236}">
                    <a16:creationId xmlns:a16="http://schemas.microsoft.com/office/drawing/2014/main" id="{CE60FD34-108C-086A-97E8-E5D93933E47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256735"/>
                  </p:ext>
                </p:extLst>
              </p:nvPr>
            </p:nvGraphicFramePr>
            <p:xfrm>
              <a:off x="180755" y="1786381"/>
              <a:ext cx="6687878" cy="480218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611054">
                      <a:extLst>
                        <a:ext uri="{9D8B030D-6E8A-4147-A177-3AD203B41FA5}">
                          <a16:colId xmlns:a16="http://schemas.microsoft.com/office/drawing/2014/main" val="1891574608"/>
                        </a:ext>
                      </a:extLst>
                    </a:gridCol>
                    <a:gridCol w="2108416">
                      <a:extLst>
                        <a:ext uri="{9D8B030D-6E8A-4147-A177-3AD203B41FA5}">
                          <a16:colId xmlns:a16="http://schemas.microsoft.com/office/drawing/2014/main" val="983702118"/>
                        </a:ext>
                      </a:extLst>
                    </a:gridCol>
                    <a:gridCol w="2968408">
                      <a:extLst>
                        <a:ext uri="{9D8B030D-6E8A-4147-A177-3AD203B41FA5}">
                          <a16:colId xmlns:a16="http://schemas.microsoft.com/office/drawing/2014/main" val="1424967603"/>
                        </a:ext>
                      </a:extLst>
                    </a:gridCol>
                  </a:tblGrid>
                  <a:tr h="4419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 dirty="0">
                              <a:effectLst/>
                            </a:rPr>
                            <a:t>Parametre</a:t>
                          </a:r>
                          <a:endParaRPr lang="tr-TR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Açıklama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Değer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031703016"/>
                      </a:ext>
                    </a:extLst>
                  </a:tr>
                  <a:tr h="4419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 dirty="0" err="1">
                              <a:effectLst/>
                            </a:rPr>
                            <a:t>Closed</a:t>
                          </a:r>
                          <a:r>
                            <a:rPr lang="tr-TR" sz="1400" dirty="0">
                              <a:effectLst/>
                            </a:rPr>
                            <a:t> </a:t>
                          </a:r>
                          <a:r>
                            <a:rPr lang="tr-TR" sz="1400" dirty="0" err="1">
                              <a:effectLst/>
                            </a:rPr>
                            <a:t>image</a:t>
                          </a:r>
                          <a:endParaRPr lang="tr-TR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Girdi görüntüsü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İşlenmiş ikili görüntü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932565514"/>
                      </a:ext>
                    </a:extLst>
                  </a:tr>
                  <a:tr h="6629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HOUGH GRADIENT ALT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 dirty="0" err="1">
                              <a:effectLst/>
                            </a:rPr>
                            <a:t>Hough</a:t>
                          </a:r>
                          <a:r>
                            <a:rPr lang="tr-TR" sz="1400" dirty="0">
                              <a:effectLst/>
                            </a:rPr>
                            <a:t> dönüşüm metodu</a:t>
                          </a:r>
                          <a:endParaRPr lang="tr-TR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Gradyan tabanlı alternatif yöntem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403384893"/>
                      </a:ext>
                    </a:extLst>
                  </a:tr>
                  <a:tr h="4419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dp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Çözünürlük ölçeği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1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905773226"/>
                      </a:ext>
                    </a:extLst>
                  </a:tr>
                  <a:tr h="6629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minDist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Minimum merkezler arası mesafe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tr-TR" sz="1400">
                                    <a:effectLst/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  <m:d>
                                  <m:dPr>
                                    <m:ctrlPr>
                                      <a:rPr lang="tr-TR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tr-TR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nor/>
                                          </m:rPr>
                                          <a:rPr lang="tr-TR" sz="1400">
                                            <a:effectLst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tr-TR" sz="1400">
                                            <a:effectLst/>
                                          </a:rPr>
                                          <m:t>height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tr-TR" sz="1400">
                                            <a:effectLst/>
                                          </a:rPr>
                                          <m:t> </m:t>
                                        </m:r>
                                      </m:num>
                                      <m:den>
                                        <m:r>
                                          <a:rPr lang="tr-TR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20</m:t>
                                        </m:r>
                                      </m:den>
                                    </m:f>
                                    <m:r>
                                      <a:rPr lang="tr-TR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tr-TR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nor/>
                                          </m:rPr>
                                          <a:rPr lang="tr-TR" sz="1400">
                                            <a:effectLst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tr-TR" sz="1400">
                                            <a:effectLst/>
                                          </a:rPr>
                                          <m:t>width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tr-TR" sz="1400">
                                            <a:effectLst/>
                                          </a:rPr>
                                          <m:t> </m:t>
                                        </m:r>
                                      </m:num>
                                      <m:den>
                                        <m:r>
                                          <a:rPr lang="tr-TR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20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tr-TR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533101874"/>
                      </a:ext>
                    </a:extLst>
                  </a:tr>
                  <a:tr h="7154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param1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Kenar algılama eşik değeri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50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494280516"/>
                      </a:ext>
                    </a:extLst>
                  </a:tr>
                  <a:tr h="4419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param2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Minimum oy eşik değeri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0.6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633227848"/>
                      </a:ext>
                    </a:extLst>
                  </a:tr>
                  <a:tr h="4965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minRadius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Minimum yarıçap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tr-TR" sz="1400">
                                    <a:effectLst/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  <m:d>
                                  <m:dPr>
                                    <m:ctrlPr>
                                      <a:rPr lang="tr-TR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tr-TR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nor/>
                                          </m:rPr>
                                          <a:rPr lang="tr-TR" sz="1400">
                                            <a:effectLst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tr-TR" sz="1400">
                                            <a:effectLst/>
                                          </a:rPr>
                                          <m:t>height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tr-TR" sz="1400">
                                            <a:effectLst/>
                                          </a:rPr>
                                          <m:t> </m:t>
                                        </m:r>
                                      </m:num>
                                      <m:den>
                                        <m:r>
                                          <a:rPr lang="tr-TR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35</m:t>
                                        </m:r>
                                      </m:den>
                                    </m:f>
                                    <m:r>
                                      <a:rPr lang="tr-TR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tr-TR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nor/>
                                          </m:rPr>
                                          <a:rPr lang="tr-TR" sz="1400">
                                            <a:effectLst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tr-TR" sz="1400">
                                            <a:effectLst/>
                                          </a:rPr>
                                          <m:t>width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tr-TR" sz="1400">
                                            <a:effectLst/>
                                          </a:rPr>
                                          <m:t> </m:t>
                                        </m:r>
                                      </m:num>
                                      <m:den>
                                        <m:r>
                                          <a:rPr lang="tr-TR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35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99527210"/>
                      </a:ext>
                    </a:extLst>
                  </a:tr>
                  <a:tr h="4965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maxRadius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Maksimum yarıçap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tr-TR" sz="1400">
                                    <a:effectLst/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  <m:d>
                                  <m:dPr>
                                    <m:ctrlPr>
                                      <a:rPr lang="tr-TR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tr-TR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nor/>
                                          </m:rPr>
                                          <a:rPr lang="tr-TR" sz="1400">
                                            <a:effectLst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tr-TR" sz="1400">
                                            <a:effectLst/>
                                          </a:rPr>
                                          <m:t>height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tr-TR" sz="1400">
                                            <a:effectLst/>
                                          </a:rPr>
                                          <m:t> </m:t>
                                        </m:r>
                                      </m:num>
                                      <m:den>
                                        <m:r>
                                          <a:rPr lang="tr-TR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tr-TR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tr-TR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nor/>
                                          </m:rPr>
                                          <a:rPr lang="tr-TR" sz="1400">
                                            <a:effectLst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tr-TR" sz="1400">
                                            <a:effectLst/>
                                          </a:rPr>
                                          <m:t>width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tr-TR" sz="1400">
                                            <a:effectLst/>
                                          </a:rPr>
                                          <m:t> </m:t>
                                        </m:r>
                                      </m:num>
                                      <m:den>
                                        <m:r>
                                          <a:rPr lang="tr-TR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tr-TR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5556666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o 3">
                <a:extLst>
                  <a:ext uri="{FF2B5EF4-FFF2-40B4-BE49-F238E27FC236}">
                    <a16:creationId xmlns:a16="http://schemas.microsoft.com/office/drawing/2014/main" id="{CE60FD34-108C-086A-97E8-E5D93933E47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256735"/>
                  </p:ext>
                </p:extLst>
              </p:nvPr>
            </p:nvGraphicFramePr>
            <p:xfrm>
              <a:off x="180755" y="1786381"/>
              <a:ext cx="6687878" cy="480218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611054">
                      <a:extLst>
                        <a:ext uri="{9D8B030D-6E8A-4147-A177-3AD203B41FA5}">
                          <a16:colId xmlns:a16="http://schemas.microsoft.com/office/drawing/2014/main" val="1891574608"/>
                        </a:ext>
                      </a:extLst>
                    </a:gridCol>
                    <a:gridCol w="2108416">
                      <a:extLst>
                        <a:ext uri="{9D8B030D-6E8A-4147-A177-3AD203B41FA5}">
                          <a16:colId xmlns:a16="http://schemas.microsoft.com/office/drawing/2014/main" val="983702118"/>
                        </a:ext>
                      </a:extLst>
                    </a:gridCol>
                    <a:gridCol w="2968408">
                      <a:extLst>
                        <a:ext uri="{9D8B030D-6E8A-4147-A177-3AD203B41FA5}">
                          <a16:colId xmlns:a16="http://schemas.microsoft.com/office/drawing/2014/main" val="1424967603"/>
                        </a:ext>
                      </a:extLst>
                    </a:gridCol>
                  </a:tblGrid>
                  <a:tr h="4419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 dirty="0">
                              <a:effectLst/>
                            </a:rPr>
                            <a:t>Parametre</a:t>
                          </a:r>
                          <a:endParaRPr lang="tr-TR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Açıklama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Değer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031703016"/>
                      </a:ext>
                    </a:extLst>
                  </a:tr>
                  <a:tr h="4419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 dirty="0" err="1">
                              <a:effectLst/>
                            </a:rPr>
                            <a:t>Closed</a:t>
                          </a:r>
                          <a:r>
                            <a:rPr lang="tr-TR" sz="1400" dirty="0">
                              <a:effectLst/>
                            </a:rPr>
                            <a:t> </a:t>
                          </a:r>
                          <a:r>
                            <a:rPr lang="tr-TR" sz="1400" dirty="0" err="1">
                              <a:effectLst/>
                            </a:rPr>
                            <a:t>image</a:t>
                          </a:r>
                          <a:endParaRPr lang="tr-TR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Girdi görüntüsü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İşlenmiş ikili görüntü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932565514"/>
                      </a:ext>
                    </a:extLst>
                  </a:tr>
                  <a:tr h="6629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HOUGH GRADIENT ALT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 dirty="0" err="1">
                              <a:effectLst/>
                            </a:rPr>
                            <a:t>Hough</a:t>
                          </a:r>
                          <a:r>
                            <a:rPr lang="tr-TR" sz="1400" dirty="0">
                              <a:effectLst/>
                            </a:rPr>
                            <a:t> dönüşüm metodu</a:t>
                          </a:r>
                          <a:endParaRPr lang="tr-TR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Gradyan tabanlı alternatif yöntem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403384893"/>
                      </a:ext>
                    </a:extLst>
                  </a:tr>
                  <a:tr h="4419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dp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Çözünürlük ölçeği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1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905773226"/>
                      </a:ext>
                    </a:extLst>
                  </a:tr>
                  <a:tr h="6629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minDist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Minimum merkezler arası mesafe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tr-TR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25641" t="-309615" r="-855" b="-328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3101874"/>
                      </a:ext>
                    </a:extLst>
                  </a:tr>
                  <a:tr h="7154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param1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Kenar algılama eşik değeri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50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494280516"/>
                      </a:ext>
                    </a:extLst>
                  </a:tr>
                  <a:tr h="4419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param2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Minimum oy eşik değeri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0.6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633227848"/>
                      </a:ext>
                    </a:extLst>
                  </a:tr>
                  <a:tr h="4965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minRadius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Minimum yarıçap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tr-TR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25641" t="-782051" r="-855" b="-1025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527210"/>
                      </a:ext>
                    </a:extLst>
                  </a:tr>
                  <a:tr h="4965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maxRadius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tr-TR" sz="1400">
                              <a:effectLst/>
                            </a:rPr>
                            <a:t>Maksimum yarıçap</a:t>
                          </a:r>
                          <a:endParaRPr lang="tr-TR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tr-TR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25641" t="-882051" r="-855" b="-25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566661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Resim 4">
            <a:extLst>
              <a:ext uri="{FF2B5EF4-FFF2-40B4-BE49-F238E27FC236}">
                <a16:creationId xmlns:a16="http://schemas.microsoft.com/office/drawing/2014/main" id="{F92DF643-F2F2-EF5D-CF80-7CE0D85B4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633" y="2243042"/>
            <a:ext cx="2538287" cy="2852626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51EC28C8-F709-EA69-8B1C-69A8C19448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7981" y="2258872"/>
            <a:ext cx="2622698" cy="2836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74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AE7DB0D-522F-0F17-2EDD-288222685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962"/>
            <a:ext cx="10515600" cy="1325563"/>
          </a:xfrm>
        </p:spPr>
        <p:txBody>
          <a:bodyPr/>
          <a:lstStyle/>
          <a:p>
            <a:r>
              <a:rPr lang="tr-TR" dirty="0" err="1"/>
              <a:t>Hough</a:t>
            </a:r>
            <a:r>
              <a:rPr lang="tr-TR" dirty="0"/>
              <a:t> transform ile yuvarlak bulma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57DC409F-4DB1-2A69-18E8-FA0D1AF28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954" y="2167386"/>
            <a:ext cx="3453513" cy="3963526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BF7333C0-4D4D-732A-D4EA-86515EAE5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36683"/>
            <a:ext cx="3807932" cy="382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381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07F52EB-B4C8-85A1-6713-B0594B60F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Girişen daireleri filtreleme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F2A3514D-235D-D155-8B23-BD69C31DF6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97"/>
          <a:stretch/>
        </p:blipFill>
        <p:spPr>
          <a:xfrm>
            <a:off x="3754548" y="1998921"/>
            <a:ext cx="4682903" cy="403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6862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4B6AF25-DBB0-6738-4704-8BF539BE5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Yöntem Blok </a:t>
            </a:r>
            <a:r>
              <a:rPr lang="tr-TR" dirty="0" err="1"/>
              <a:t>Diagramı</a:t>
            </a:r>
            <a:endParaRPr lang="tr-TR" dirty="0"/>
          </a:p>
        </p:txBody>
      </p:sp>
      <p:pic>
        <p:nvPicPr>
          <p:cNvPr id="7" name="Resim 6" descr="metin, ekran görüntüsü, yazı tipi, beyaz içeren bir resim&#10;&#10;Açıklama otomatik olarak oluşturuldu">
            <a:extLst>
              <a:ext uri="{FF2B5EF4-FFF2-40B4-BE49-F238E27FC236}">
                <a16:creationId xmlns:a16="http://schemas.microsoft.com/office/drawing/2014/main" id="{75A88204-12B1-4EBF-5F86-4C999BC4C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30" y="2141950"/>
            <a:ext cx="11714137" cy="320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739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730C3C3-5C81-A55C-6CF1-2C5767C60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Dezavantajlar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113F503D-7C53-9614-C40B-EF4867B8A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930" y="1452479"/>
            <a:ext cx="10515600" cy="5405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825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2973F12-6795-2C21-8A87-A5CEEAA2F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098" y="2509228"/>
            <a:ext cx="10885967" cy="1839544"/>
          </a:xfrm>
        </p:spPr>
        <p:txBody>
          <a:bodyPr/>
          <a:lstStyle/>
          <a:p>
            <a:pPr algn="ctr"/>
            <a:r>
              <a:rPr lang="tr-TR" dirty="0"/>
              <a:t>Dinlediğiniz için</a:t>
            </a:r>
            <a:br>
              <a:rPr lang="tr-TR" dirty="0"/>
            </a:br>
            <a:r>
              <a:rPr lang="tr-TR" dirty="0"/>
              <a:t> Teşekkürler</a:t>
            </a:r>
          </a:p>
        </p:txBody>
      </p:sp>
    </p:spTree>
    <p:extLst>
      <p:ext uri="{BB962C8B-B14F-4D97-AF65-F5344CB8AC3E}">
        <p14:creationId xmlns:p14="http://schemas.microsoft.com/office/powerpoint/2010/main" val="10823358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4A04C25-F1CF-8687-9BD1-A45249C10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3022"/>
            <a:ext cx="10515600" cy="1325563"/>
          </a:xfrm>
        </p:spPr>
        <p:txBody>
          <a:bodyPr/>
          <a:lstStyle/>
          <a:p>
            <a:pPr algn="ctr"/>
            <a:r>
              <a:rPr lang="tr-TR" dirty="0"/>
              <a:t>Ek bilgiler</a:t>
            </a:r>
          </a:p>
        </p:txBody>
      </p:sp>
    </p:spTree>
    <p:extLst>
      <p:ext uri="{BB962C8B-B14F-4D97-AF65-F5344CB8AC3E}">
        <p14:creationId xmlns:p14="http://schemas.microsoft.com/office/powerpoint/2010/main" val="38148777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0564100-D157-9EBD-D85E-0D3D23CD4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Tüm görseller ve çıktıları</a:t>
            </a:r>
            <a:endParaRPr lang="tr-TR" dirty="0"/>
          </a:p>
        </p:txBody>
      </p:sp>
      <p:pic>
        <p:nvPicPr>
          <p:cNvPr id="4" name="Resim 3" descr="daire, kalıp, desen, düzen, grafik, siyah beyaz içeren bir resim&#10;&#10;Açıklama otomatik olarak oluşturuldu">
            <a:extLst>
              <a:ext uri="{FF2B5EF4-FFF2-40B4-BE49-F238E27FC236}">
                <a16:creationId xmlns:a16="http://schemas.microsoft.com/office/drawing/2014/main" id="{C60B29CD-3044-9645-91A5-BDB0533A6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116" y="1892233"/>
            <a:ext cx="9167038" cy="4600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1001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4A36A-F61B-D2B1-8FB6-DFE85EB47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220F7BE-4675-EA82-8DE0-EA0BF02B6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Tüm görseller ve çıktıları</a:t>
            </a:r>
            <a:endParaRPr lang="tr-TR" dirty="0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8D432226-8AA1-A44C-F700-887643156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194" y="1830395"/>
            <a:ext cx="9198935" cy="476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3171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BDA0B-5C86-A459-76FB-B56AAC544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B8548E5-C490-4240-3690-36DD5A4EB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Tüm görseller ve çıktıları</a:t>
            </a:r>
            <a:endParaRPr lang="tr-TR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5BB75D40-CA13-1D49-4A93-C17E6B1C7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499" y="1690688"/>
            <a:ext cx="9250324" cy="5028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5068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3172D-4E4E-0257-C725-39EAB5443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4D7C2FA-48CD-F064-5E80-FD5525B98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Tüm görseller ve çıktıları</a:t>
            </a:r>
            <a:endParaRPr lang="tr-TR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0CA3172E-5DB6-D515-09E1-12B35942D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521" y="1775748"/>
            <a:ext cx="9359071" cy="4958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0478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89CE0-407F-13FD-16F2-B8A8B6C6D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E84CC68-F4C7-56A9-505B-4787A05C5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Tüm görseller ve çıktıları</a:t>
            </a:r>
            <a:endParaRPr lang="tr-TR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B7165D4E-0D6B-DE2B-450F-7DF71868B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543" y="1690688"/>
            <a:ext cx="9786277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3779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51F5A-47E4-7916-5C09-BF84764E7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6F986C6-1A7F-5937-A888-8A8F270A1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Tüm görseller ve çıktıları</a:t>
            </a:r>
            <a:endParaRPr lang="tr-TR" dirty="0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3FF7189F-4579-6E31-B1A1-9FE2C7C52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807" y="1942143"/>
            <a:ext cx="10818386" cy="440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2208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EAB55-C725-E8AE-C06B-61067F2E9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29C414C-608D-A24C-A084-A22BF2E8C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Tüm görseller ve çıktıları</a:t>
            </a:r>
            <a:endParaRPr lang="tr-TR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2D5469C8-83F1-DA3B-E045-9FCD5033F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031" y="1690688"/>
            <a:ext cx="9039447" cy="5024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595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19DC8-DB9E-1FA0-6AE2-0F2F68324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42B8BFF-E8E9-5C81-A898-0526E5D17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Tüm görseller ve çıktıları</a:t>
            </a:r>
            <a:endParaRPr lang="tr-TR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3EFD9BC0-6D61-89CE-338B-763E715CB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08327"/>
            <a:ext cx="10189658" cy="4667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8943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78E65-7131-1C1C-67C2-7C45B4D3D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EC5FAEC-4486-BC58-E2CC-BE1EF9930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Tüm görseller ve çıktıları</a:t>
            </a:r>
            <a:endParaRPr lang="tr-TR" dirty="0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7E6E693A-0F7D-BCA0-77F3-398810D87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770" y="1569531"/>
            <a:ext cx="9762460" cy="501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393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F83B378-48FB-2092-D564-DDC1F1F19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Morjolojik</a:t>
            </a:r>
            <a:r>
              <a:rPr lang="tr-TR" dirty="0"/>
              <a:t> yapılandırma elemanları</a:t>
            </a:r>
          </a:p>
        </p:txBody>
      </p:sp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9A0C3A16-2F77-3C8F-07C7-C7FF7A7DBF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093405"/>
              </p:ext>
            </p:extLst>
          </p:nvPr>
        </p:nvGraphicFramePr>
        <p:xfrm>
          <a:off x="838200" y="1796903"/>
          <a:ext cx="10515600" cy="45634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98761">
                  <a:extLst>
                    <a:ext uri="{9D8B030D-6E8A-4147-A177-3AD203B41FA5}">
                      <a16:colId xmlns:a16="http://schemas.microsoft.com/office/drawing/2014/main" val="2485216531"/>
                    </a:ext>
                  </a:extLst>
                </a:gridCol>
                <a:gridCol w="2471480">
                  <a:extLst>
                    <a:ext uri="{9D8B030D-6E8A-4147-A177-3AD203B41FA5}">
                      <a16:colId xmlns:a16="http://schemas.microsoft.com/office/drawing/2014/main" val="700181721"/>
                    </a:ext>
                  </a:extLst>
                </a:gridCol>
                <a:gridCol w="3029196">
                  <a:extLst>
                    <a:ext uri="{9D8B030D-6E8A-4147-A177-3AD203B41FA5}">
                      <a16:colId xmlns:a16="http://schemas.microsoft.com/office/drawing/2014/main" val="648636493"/>
                    </a:ext>
                  </a:extLst>
                </a:gridCol>
                <a:gridCol w="2116163">
                  <a:extLst>
                    <a:ext uri="{9D8B030D-6E8A-4147-A177-3AD203B41FA5}">
                      <a16:colId xmlns:a16="http://schemas.microsoft.com/office/drawing/2014/main" val="1262876238"/>
                    </a:ext>
                  </a:extLst>
                </a:gridCol>
              </a:tblGrid>
              <a:tr h="364910">
                <a:tc>
                  <a:txBody>
                    <a:bodyPr/>
                    <a:lstStyle/>
                    <a:p>
                      <a:pPr algn="ctr"/>
                      <a:r>
                        <a:rPr lang="tr-TR" sz="2000" dirty="0">
                          <a:effectLst/>
                        </a:rPr>
                        <a:t>Yapılandırma Elemanı</a:t>
                      </a:r>
                      <a:endParaRPr lang="tr-T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>
                          <a:effectLst/>
                        </a:rPr>
                        <a:t>Avantajları</a:t>
                      </a:r>
                      <a:endParaRPr lang="tr-TR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>
                          <a:effectLst/>
                        </a:rPr>
                        <a:t>Dezavantajları</a:t>
                      </a:r>
                      <a:endParaRPr lang="tr-TR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>
                          <a:effectLst/>
                        </a:rPr>
                        <a:t>Kullanım Alanı</a:t>
                      </a:r>
                      <a:endParaRPr lang="tr-TR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67366579"/>
                  </a:ext>
                </a:extLst>
              </a:tr>
              <a:tr h="1642093">
                <a:tc>
                  <a:txBody>
                    <a:bodyPr/>
                    <a:lstStyle/>
                    <a:p>
                      <a:pPr algn="ctr"/>
                      <a:r>
                        <a:rPr lang="tr-TR" sz="2000">
                          <a:effectLst/>
                        </a:rPr>
                        <a:t>Dikdörtgen</a:t>
                      </a:r>
                      <a:endParaRPr lang="tr-TR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>
                          <a:effectLst/>
                        </a:rPr>
                        <a:t>Hızlı hesaplama, tüm yönlerde eşit genişletme veya aşındırma</a:t>
                      </a:r>
                      <a:endParaRPr lang="tr-TR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>
                          <a:effectLst/>
                        </a:rPr>
                        <a:t>Köşeleri yuvarlak olmayan nesnelerde bozulmalar yaratabilir</a:t>
                      </a:r>
                      <a:endParaRPr lang="tr-TR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>
                          <a:effectLst/>
                        </a:rPr>
                        <a:t>Genel kullanım (ör. metin veya keskin kenarlı nesneler)</a:t>
                      </a:r>
                      <a:endParaRPr lang="tr-TR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00471243"/>
                  </a:ext>
                </a:extLst>
              </a:tr>
              <a:tr h="912273">
                <a:tc>
                  <a:txBody>
                    <a:bodyPr/>
                    <a:lstStyle/>
                    <a:p>
                      <a:pPr algn="ctr"/>
                      <a:r>
                        <a:rPr lang="tr-TR" sz="2000">
                          <a:effectLst/>
                        </a:rPr>
                        <a:t>Çapraz</a:t>
                      </a:r>
                      <a:endParaRPr lang="tr-TR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>
                          <a:effectLst/>
                        </a:rPr>
                        <a:t>Daha küçük bir çekirdekle etkili işlem</a:t>
                      </a:r>
                      <a:endParaRPr lang="tr-TR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>
                          <a:effectLst/>
                        </a:rPr>
                        <a:t>Dikey ve yatay yönlerde sınırlıdır</a:t>
                      </a:r>
                      <a:endParaRPr lang="tr-TR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>
                          <a:effectLst/>
                        </a:rPr>
                        <a:t>Basit kenar veya ince yapılar</a:t>
                      </a:r>
                      <a:endParaRPr lang="tr-TR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92165567"/>
                  </a:ext>
                </a:extLst>
              </a:tr>
              <a:tr h="1642093">
                <a:tc>
                  <a:txBody>
                    <a:bodyPr/>
                    <a:lstStyle/>
                    <a:p>
                      <a:pPr algn="ctr"/>
                      <a:r>
                        <a:rPr lang="tr-TR" sz="2000">
                          <a:effectLst/>
                        </a:rPr>
                        <a:t>Elips (Daire)</a:t>
                      </a:r>
                      <a:endParaRPr lang="tr-TR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>
                          <a:effectLst/>
                        </a:rPr>
                        <a:t>Kenarları doğal bir şekilde genişletir, yuvarlak nesnelerle uyumludur</a:t>
                      </a:r>
                      <a:endParaRPr lang="tr-TR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>
                          <a:effectLst/>
                        </a:rPr>
                        <a:t>Hesaplama maliyeti diğerlerine göre daha yüksektir</a:t>
                      </a:r>
                      <a:endParaRPr lang="tr-TR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>
                          <a:effectLst/>
                        </a:rPr>
                        <a:t>Yuvarlak veya yumuşak kenarlı nesneler</a:t>
                      </a:r>
                      <a:endParaRPr lang="tr-T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42397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22742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A3327B5-8E9B-4EC3-707B-1D7F74E09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Farklı boyuttaki maskelerle ile </a:t>
            </a:r>
            <a:r>
              <a:rPr lang="tr-TR" dirty="0" err="1"/>
              <a:t>blur</a:t>
            </a:r>
            <a:endParaRPr lang="tr-TR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A551BD5C-782F-8B9E-C552-F8BA49E7D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388" y="1783146"/>
            <a:ext cx="9749223" cy="495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5467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CA8A22C-35A5-7A02-77C4-8004B2589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Blurlu</a:t>
            </a:r>
            <a:r>
              <a:rPr lang="tr-TR" dirty="0"/>
              <a:t> görüntülere </a:t>
            </a:r>
            <a:r>
              <a:rPr lang="tr-TR" dirty="0" err="1"/>
              <a:t>treshold</a:t>
            </a:r>
            <a:r>
              <a:rPr lang="tr-TR" dirty="0"/>
              <a:t> işlemi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BD6979D0-0AD1-AF67-D8CB-191886D5F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761" y="1690688"/>
            <a:ext cx="9993758" cy="5082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26309"/>
      </p:ext>
    </p:extLst>
  </p:cSld>
  <p:clrMapOvr>
    <a:masterClrMapping/>
  </p:clrMapOvr>
</p:sld>
</file>

<file path=ppt/theme/theme1.xml><?xml version="1.0" encoding="utf-8"?>
<a:theme xmlns:a="http://schemas.openxmlformats.org/drawingml/2006/main" name="BrushVTI">
  <a:themeElements>
    <a:clrScheme name="AnalogousFromDarkSeedLeftStep">
      <a:dk1>
        <a:srgbClr val="000000"/>
      </a:dk1>
      <a:lt1>
        <a:srgbClr val="FFFFFF"/>
      </a:lt1>
      <a:dk2>
        <a:srgbClr val="181A32"/>
      </a:dk2>
      <a:lt2>
        <a:srgbClr val="F0F3F2"/>
      </a:lt2>
      <a:accent1>
        <a:srgbClr val="C34D8C"/>
      </a:accent1>
      <a:accent2>
        <a:srgbClr val="B13BAB"/>
      </a:accent2>
      <a:accent3>
        <a:srgbClr val="984DC3"/>
      </a:accent3>
      <a:accent4>
        <a:srgbClr val="553BB1"/>
      </a:accent4>
      <a:accent5>
        <a:srgbClr val="4D64C3"/>
      </a:accent5>
      <a:accent6>
        <a:srgbClr val="3B84B1"/>
      </a:accent6>
      <a:hlink>
        <a:srgbClr val="595CC7"/>
      </a:hlink>
      <a:folHlink>
        <a:srgbClr val="7F7F7F"/>
      </a:folHlink>
    </a:clrScheme>
    <a:fontScheme name="Custom 3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1182</TotalTime>
  <Words>339</Words>
  <Application>Microsoft Macintosh PowerPoint</Application>
  <PresentationFormat>Geniş ekran</PresentationFormat>
  <Paragraphs>83</Paragraphs>
  <Slides>30</Slides>
  <Notes>0</Notes>
  <HiddenSlides>0</HiddenSlides>
  <MMClips>1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30</vt:i4>
      </vt:variant>
    </vt:vector>
  </HeadingPairs>
  <TitlesOfParts>
    <vt:vector size="35" baseType="lpstr">
      <vt:lpstr>Arial</vt:lpstr>
      <vt:lpstr>Cambria Math</vt:lpstr>
      <vt:lpstr>Century Gothic</vt:lpstr>
      <vt:lpstr>Times New Roman</vt:lpstr>
      <vt:lpstr>BrushVTI</vt:lpstr>
      <vt:lpstr>Görüntü işleme ile Trafik Levhası Tespiti</vt:lpstr>
      <vt:lpstr>Problem tanımı</vt:lpstr>
      <vt:lpstr>PowerPoint Sunusu</vt:lpstr>
      <vt:lpstr>Yöntem</vt:lpstr>
      <vt:lpstr>Gaussian Blur ile yumuşatma</vt:lpstr>
      <vt:lpstr>Adaptive Treshold</vt:lpstr>
      <vt:lpstr>Negatif alma işlemi</vt:lpstr>
      <vt:lpstr>Bağlı bileşen analizi</vt:lpstr>
      <vt:lpstr>Bağlı bileşen analizi</vt:lpstr>
      <vt:lpstr>Bağlı bileşen analizi</vt:lpstr>
      <vt:lpstr>Morfolojik operatörlerle kapatma işlemi</vt:lpstr>
      <vt:lpstr>Hough transform ile yuvarlak bulma</vt:lpstr>
      <vt:lpstr>Hough transform ile yuvarlak bulma</vt:lpstr>
      <vt:lpstr>Girişen daireleri filtreleme</vt:lpstr>
      <vt:lpstr>Yöntem Blok Diagramı</vt:lpstr>
      <vt:lpstr>Dezavantajlar</vt:lpstr>
      <vt:lpstr>Dinlediğiniz için  Teşekkürler</vt:lpstr>
      <vt:lpstr>Ek bilgiler</vt:lpstr>
      <vt:lpstr>Tüm görseller ve çıktıları</vt:lpstr>
      <vt:lpstr>Tüm görseller ve çıktıları</vt:lpstr>
      <vt:lpstr>Tüm görseller ve çıktıları</vt:lpstr>
      <vt:lpstr>Tüm görseller ve çıktıları</vt:lpstr>
      <vt:lpstr>Tüm görseller ve çıktıları</vt:lpstr>
      <vt:lpstr>Tüm görseller ve çıktıları</vt:lpstr>
      <vt:lpstr>Tüm görseller ve çıktıları</vt:lpstr>
      <vt:lpstr>Tüm görseller ve çıktıları</vt:lpstr>
      <vt:lpstr>Tüm görseller ve çıktıları</vt:lpstr>
      <vt:lpstr>Morjolojik yapılandırma elemanları</vt:lpstr>
      <vt:lpstr>Farklı boyuttaki maskelerle ile blur</vt:lpstr>
      <vt:lpstr>Blurlu görüntülere treshold işlemi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FOUAD ALADHAMI</dc:creator>
  <cp:lastModifiedBy>FOUAD ALADHAMI</cp:lastModifiedBy>
  <cp:revision>21</cp:revision>
  <dcterms:created xsi:type="dcterms:W3CDTF">2024-12-21T13:09:05Z</dcterms:created>
  <dcterms:modified xsi:type="dcterms:W3CDTF">2024-12-25T17:13:16Z</dcterms:modified>
</cp:coreProperties>
</file>